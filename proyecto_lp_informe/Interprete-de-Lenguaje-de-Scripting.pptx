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embeddedFontLst>
    <p:embeddedFont>
      <p:font typeface="Abadi" panose="020B0604020104020204" pitchFamily="34" charset="0"/>
      <p:regular r:id="rId14"/>
      <p:bold r:id="rId15"/>
    </p:embeddedFont>
    <p:embeddedFont>
      <p:font typeface="Abel" panose="02000506030000020004" pitchFamily="2" charset="0"/>
      <p:regular r:id="rId16"/>
    </p:embeddedFont>
    <p:embeddedFont>
      <p:font typeface="Alef" panose="00000500000000000000" pitchFamily="2" charset="-79"/>
      <p:regular r:id="rId17"/>
    </p:embeddedFont>
    <p:embeddedFont>
      <p:font typeface="Consolas" panose="020B0609020204030204" pitchFamily="49" charset="0"/>
      <p:regular r:id="rId18"/>
      <p:bold r:id="rId19"/>
      <p:italic r:id="rId20"/>
      <p:boldItalic r:id="rId21"/>
    </p:embeddedFont>
  </p:embeddedFontLst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12512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svg"/><Relationship Id="rId12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1.svg"/><Relationship Id="rId11" Type="http://schemas.openxmlformats.org/officeDocument/2006/relationships/image" Target="../media/image3.pn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13" Type="http://schemas.openxmlformats.org/officeDocument/2006/relationships/image" Target="../media/image36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35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sv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5" Type="http://schemas.openxmlformats.org/officeDocument/2006/relationships/image" Target="../media/image3.png"/><Relationship Id="rId10" Type="http://schemas.openxmlformats.org/officeDocument/2006/relationships/image" Target="../media/image33.svg"/><Relationship Id="rId4" Type="http://schemas.openxmlformats.org/officeDocument/2006/relationships/image" Target="../media/image27.svg"/><Relationship Id="rId9" Type="http://schemas.openxmlformats.org/officeDocument/2006/relationships/image" Target="../media/image32.png"/><Relationship Id="rId14" Type="http://schemas.openxmlformats.org/officeDocument/2006/relationships/image" Target="../media/image3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>
              <a:alpha val="8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93790" y="1419939"/>
            <a:ext cx="12765405" cy="978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E1E5CD"/>
                </a:solidFill>
                <a:latin typeface="Abel" panose="020F0502020204030204" pitchFamily="2" charset="0"/>
                <a:ea typeface="Outfit Bold" pitchFamily="34" charset="-122"/>
                <a:cs typeface="Outfit Bold" pitchFamily="34" charset="-120"/>
              </a:rPr>
              <a:t>Intérprete de Lenguaje de Scripting </a:t>
            </a:r>
            <a:endParaRPr lang="en-US" sz="6150" dirty="0"/>
          </a:p>
        </p:txBody>
      </p:sp>
      <p:sp>
        <p:nvSpPr>
          <p:cNvPr id="5" name="Text 2"/>
          <p:cNvSpPr/>
          <p:nvPr/>
        </p:nvSpPr>
        <p:spPr>
          <a:xfrm>
            <a:off x="793790" y="273831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Arquitectura y Componentes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335637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Integrantes: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397442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- Arestigue Mamani Erickson Gabriel 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93790" y="459247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- Jauregui Peña Bruno Marcelo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93790" y="521053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- Lavado Quispe Alessandro Jaren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93790" y="582858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Profesor: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793790" y="644663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-Herencia Guerra Juan Luis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4900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1E5CD"/>
                </a:solidFill>
                <a:latin typeface="Abel" panose="020F0502020204030204" pitchFamily="2" charset="0"/>
                <a:ea typeface="Outfit Bold" pitchFamily="34" charset="-122"/>
                <a:cs typeface="Outfit Bold" pitchFamily="34" charset="-120"/>
              </a:rPr>
              <a:t>Índice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711410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Alef" panose="020F0502020204030204" pitchFamily="2" charset="-79"/>
                <a:ea typeface="Outfit Light" pitchFamily="34" charset="-122"/>
                <a:cs typeface="Alef" panose="020F0502020204030204" pitchFamily="2" charset="-79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066455"/>
            <a:ext cx="4196358" cy="30480"/>
          </a:xfrm>
          <a:prstGeom prst="rect">
            <a:avLst/>
          </a:prstGeom>
          <a:solidFill>
            <a:srgbClr val="9FA582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2407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Abel" panose="020F0502020204030204" pitchFamily="2" charset="0"/>
                <a:ea typeface="Outfit Bold" pitchFamily="34" charset="-122"/>
                <a:cs typeface="Outfit Bold" pitchFamily="34" charset="-120"/>
              </a:rPr>
              <a:t>Introducción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216962" y="2711410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Alef" panose="020F0502020204030204" pitchFamily="2" charset="-79"/>
                <a:ea typeface="Outfit Light" pitchFamily="34" charset="-122"/>
                <a:cs typeface="Alef" panose="020F0502020204030204" pitchFamily="2" charset="-79"/>
              </a:rPr>
              <a:t>02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3066455"/>
            <a:ext cx="4196358" cy="30480"/>
          </a:xfrm>
          <a:prstGeom prst="rect">
            <a:avLst/>
          </a:prstGeom>
          <a:solidFill>
            <a:srgbClr val="9FA582"/>
          </a:solidFill>
          <a:ln/>
        </p:spPr>
      </p:sp>
      <p:sp>
        <p:nvSpPr>
          <p:cNvPr id="8" name="Text 6"/>
          <p:cNvSpPr/>
          <p:nvPr/>
        </p:nvSpPr>
        <p:spPr>
          <a:xfrm>
            <a:off x="5216962" y="3240762"/>
            <a:ext cx="287428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Abel" panose="020F0502020204030204" pitchFamily="2" charset="0"/>
                <a:ea typeface="Outfit Bold" pitchFamily="34" charset="-122"/>
                <a:cs typeface="Outfit Bold" pitchFamily="34" charset="-120"/>
              </a:rPr>
              <a:t>Lexer (Análisis Léxico)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640133" y="2711410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Alef" panose="020F0502020204030204" pitchFamily="2" charset="-79"/>
                <a:ea typeface="Outfit Light" pitchFamily="34" charset="-122"/>
                <a:cs typeface="Alef" panose="020F0502020204030204" pitchFamily="2" charset="-79"/>
              </a:rPr>
              <a:t>03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9640133" y="3066455"/>
            <a:ext cx="4196358" cy="30480"/>
          </a:xfrm>
          <a:prstGeom prst="rect">
            <a:avLst/>
          </a:prstGeom>
          <a:solidFill>
            <a:srgbClr val="9FA582"/>
          </a:solidFill>
          <a:ln/>
        </p:spPr>
      </p:sp>
      <p:sp>
        <p:nvSpPr>
          <p:cNvPr id="11" name="Text 9"/>
          <p:cNvSpPr/>
          <p:nvPr/>
        </p:nvSpPr>
        <p:spPr>
          <a:xfrm>
            <a:off x="9640133" y="3240762"/>
            <a:ext cx="347591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Abel" panose="020F0502020204030204" pitchFamily="2" charset="0"/>
                <a:ea typeface="Outfit Bold" pitchFamily="34" charset="-122"/>
                <a:cs typeface="Outfit Bold" pitchFamily="34" charset="-120"/>
              </a:rPr>
              <a:t>Parser (Análisis Sintáctico)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93790" y="3991928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Alef" panose="020F0502020204030204" pitchFamily="2" charset="-79"/>
                <a:ea typeface="Outfit Light" pitchFamily="34" charset="-122"/>
                <a:cs typeface="Alef" panose="020F0502020204030204" pitchFamily="2" charset="-79"/>
              </a:rPr>
              <a:t>04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93790" y="4346972"/>
            <a:ext cx="4196358" cy="30480"/>
          </a:xfrm>
          <a:prstGeom prst="rect">
            <a:avLst/>
          </a:prstGeom>
          <a:solidFill>
            <a:srgbClr val="9FA582"/>
          </a:solidFill>
          <a:ln/>
        </p:spPr>
      </p:sp>
      <p:sp>
        <p:nvSpPr>
          <p:cNvPr id="14" name="Text 12"/>
          <p:cNvSpPr/>
          <p:nvPr/>
        </p:nvSpPr>
        <p:spPr>
          <a:xfrm>
            <a:off x="793790" y="4521279"/>
            <a:ext cx="4196358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Abel" panose="020F0502020204030204" pitchFamily="2" charset="0"/>
                <a:ea typeface="Outfit Bold" pitchFamily="34" charset="-122"/>
                <a:cs typeface="Outfit Bold" pitchFamily="34" charset="-120"/>
              </a:rPr>
              <a:t>AST (Árbol de Sintaxis Abstracta)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216962" y="3991928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Alef" panose="020F0502020204030204" pitchFamily="2" charset="-79"/>
                <a:ea typeface="Outfit Light" pitchFamily="34" charset="-122"/>
                <a:cs typeface="Alef" panose="020F0502020204030204" pitchFamily="2" charset="-79"/>
              </a:rPr>
              <a:t>05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5216962" y="4346972"/>
            <a:ext cx="4196358" cy="30480"/>
          </a:xfrm>
          <a:prstGeom prst="rect">
            <a:avLst/>
          </a:prstGeom>
          <a:solidFill>
            <a:srgbClr val="9FA582"/>
          </a:solidFill>
          <a:ln/>
        </p:spPr>
      </p:sp>
      <p:sp>
        <p:nvSpPr>
          <p:cNvPr id="17" name="Text 15"/>
          <p:cNvSpPr/>
          <p:nvPr/>
        </p:nvSpPr>
        <p:spPr>
          <a:xfrm>
            <a:off x="5216962" y="45212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Abel" panose="020F0502020204030204" pitchFamily="2" charset="0"/>
                <a:ea typeface="Outfit Bold" pitchFamily="34" charset="-122"/>
                <a:cs typeface="Outfit Bold" pitchFamily="34" charset="-120"/>
              </a:rPr>
              <a:t>Gramática BNF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640133" y="3991928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Alef" panose="020F0502020204030204" pitchFamily="2" charset="-79"/>
                <a:ea typeface="Outfit Light" pitchFamily="34" charset="-122"/>
                <a:cs typeface="Alef" panose="020F0502020204030204" pitchFamily="2" charset="-79"/>
              </a:rPr>
              <a:t>06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9640133" y="4346972"/>
            <a:ext cx="4196358" cy="30480"/>
          </a:xfrm>
          <a:prstGeom prst="rect">
            <a:avLst/>
          </a:prstGeom>
          <a:solidFill>
            <a:srgbClr val="9FA582"/>
          </a:solidFill>
          <a:ln/>
        </p:spPr>
      </p:sp>
      <p:sp>
        <p:nvSpPr>
          <p:cNvPr id="20" name="Text 18"/>
          <p:cNvSpPr/>
          <p:nvPr/>
        </p:nvSpPr>
        <p:spPr>
          <a:xfrm>
            <a:off x="9640133" y="45212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Abel" panose="020F0502020204030204" pitchFamily="2" charset="0"/>
                <a:ea typeface="Outfit Bold" pitchFamily="34" charset="-122"/>
                <a:cs typeface="Outfit Bold" pitchFamily="34" charset="-120"/>
              </a:rPr>
              <a:t>Tabla de Símbolos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93790" y="5626775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Alef" panose="020F0502020204030204" pitchFamily="2" charset="-79"/>
                <a:ea typeface="Outfit Light" pitchFamily="34" charset="-122"/>
                <a:cs typeface="Alef" panose="020F0502020204030204" pitchFamily="2" charset="-79"/>
              </a:rPr>
              <a:t>07</a:t>
            </a:r>
            <a:endParaRPr lang="en-US" sz="1750" dirty="0"/>
          </a:p>
        </p:txBody>
      </p:sp>
      <p:sp>
        <p:nvSpPr>
          <p:cNvPr id="22" name="Shape 20"/>
          <p:cNvSpPr/>
          <p:nvPr/>
        </p:nvSpPr>
        <p:spPr>
          <a:xfrm>
            <a:off x="793790" y="5981819"/>
            <a:ext cx="4196358" cy="30480"/>
          </a:xfrm>
          <a:prstGeom prst="rect">
            <a:avLst/>
          </a:prstGeom>
          <a:solidFill>
            <a:srgbClr val="9FA582"/>
          </a:solidFill>
          <a:ln/>
        </p:spPr>
      </p:sp>
      <p:sp>
        <p:nvSpPr>
          <p:cNvPr id="23" name="Text 21"/>
          <p:cNvSpPr/>
          <p:nvPr/>
        </p:nvSpPr>
        <p:spPr>
          <a:xfrm>
            <a:off x="793790" y="61561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Abel" panose="020F0502020204030204" pitchFamily="2" charset="0"/>
                <a:ea typeface="Outfit Bold" pitchFamily="34" charset="-122"/>
                <a:cs typeface="Outfit Bold" pitchFamily="34" charset="-120"/>
              </a:rPr>
              <a:t>Evaluador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216962" y="5626775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Alef" panose="020F0502020204030204" pitchFamily="2" charset="-79"/>
                <a:ea typeface="Outfit Light" pitchFamily="34" charset="-122"/>
                <a:cs typeface="Alef" panose="020F0502020204030204" pitchFamily="2" charset="-79"/>
              </a:rPr>
              <a:t>08</a:t>
            </a:r>
            <a:endParaRPr lang="en-US" sz="1750" dirty="0"/>
          </a:p>
        </p:txBody>
      </p:sp>
      <p:sp>
        <p:nvSpPr>
          <p:cNvPr id="25" name="Shape 23"/>
          <p:cNvSpPr/>
          <p:nvPr/>
        </p:nvSpPr>
        <p:spPr>
          <a:xfrm>
            <a:off x="5216962" y="5981819"/>
            <a:ext cx="4196358" cy="30480"/>
          </a:xfrm>
          <a:prstGeom prst="rect">
            <a:avLst/>
          </a:prstGeom>
          <a:solidFill>
            <a:srgbClr val="9FA582"/>
          </a:solidFill>
          <a:ln/>
        </p:spPr>
      </p:sp>
      <p:sp>
        <p:nvSpPr>
          <p:cNvPr id="26" name="Text 24"/>
          <p:cNvSpPr/>
          <p:nvPr/>
        </p:nvSpPr>
        <p:spPr>
          <a:xfrm>
            <a:off x="5216962" y="61561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Abel" panose="020F0502020204030204" pitchFamily="2" charset="0"/>
                <a:ea typeface="Outfit Bold" pitchFamily="34" charset="-122"/>
                <a:cs typeface="Outfit Bold" pitchFamily="34" charset="-120"/>
              </a:rPr>
              <a:t>Manejo de Errores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640133" y="5626775"/>
            <a:ext cx="45362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Alef" panose="020F0502020204030204" pitchFamily="2" charset="-79"/>
                <a:ea typeface="Outfit Light" pitchFamily="34" charset="-122"/>
                <a:cs typeface="Alef" panose="020F0502020204030204" pitchFamily="2" charset="-79"/>
              </a:rPr>
              <a:t>09</a:t>
            </a:r>
            <a:endParaRPr lang="en-US" sz="1750" dirty="0"/>
          </a:p>
        </p:txBody>
      </p:sp>
      <p:sp>
        <p:nvSpPr>
          <p:cNvPr id="28" name="Shape 26"/>
          <p:cNvSpPr/>
          <p:nvPr/>
        </p:nvSpPr>
        <p:spPr>
          <a:xfrm>
            <a:off x="9640133" y="5981819"/>
            <a:ext cx="4196358" cy="30480"/>
          </a:xfrm>
          <a:prstGeom prst="rect">
            <a:avLst/>
          </a:prstGeom>
          <a:solidFill>
            <a:srgbClr val="9FA582"/>
          </a:solidFill>
          <a:ln/>
        </p:spPr>
      </p:sp>
      <p:sp>
        <p:nvSpPr>
          <p:cNvPr id="29" name="Text 27"/>
          <p:cNvSpPr/>
          <p:nvPr/>
        </p:nvSpPr>
        <p:spPr>
          <a:xfrm>
            <a:off x="9640133" y="61561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Abel" panose="020F0502020204030204" pitchFamily="2" charset="0"/>
                <a:ea typeface="Outfit Bold" pitchFamily="34" charset="-122"/>
                <a:cs typeface="Outfit Bold" pitchFamily="34" charset="-120"/>
              </a:rPr>
              <a:t>Conclusiones</a:t>
            </a:r>
            <a:endParaRPr lang="en-US" sz="2200" dirty="0"/>
          </a:p>
        </p:txBody>
      </p:sp>
      <p:pic>
        <p:nvPicPr>
          <p:cNvPr id="35" name="Imagen 34">
            <a:extLst>
              <a:ext uri="{FF2B5EF4-FFF2-40B4-BE49-F238E27FC236}">
                <a16:creationId xmlns:a16="http://schemas.microsoft.com/office/drawing/2014/main" id="{5BB698C5-50E3-724C-27C9-855D6203BA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292" y="7620260"/>
            <a:ext cx="2210108" cy="48584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42232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1E5CD"/>
                </a:solidFill>
                <a:latin typeface="Abel" panose="020F0502020204030204" pitchFamily="2" charset="0"/>
                <a:ea typeface="Outfit Bold" pitchFamily="34" charset="-122"/>
                <a:cs typeface="Outfit Bold" pitchFamily="34" charset="-120"/>
              </a:rPr>
              <a:t>Introducción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471267"/>
            <a:ext cx="7556421" cy="2336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Qué es:</a:t>
            </a:r>
            <a:r>
              <a:rPr lang="en-US" sz="1750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 Ejecuta código fuente directamente, instrucción por instrucción.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Ventajas en C:</a:t>
            </a:r>
            <a:r>
              <a:rPr lang="en-US" sz="1750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 Alto rendimiento, control del hardware e integración con bibliotecas.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Casos de uso:</a:t>
            </a:r>
            <a:r>
              <a:rPr lang="en-US" sz="1750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 Scripts, videojuegos, web embebida y configuración de aplicaciones.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20816"/>
            <a:ext cx="575083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1E5CD"/>
                </a:solidFill>
                <a:latin typeface="Abel" panose="020F0502020204030204" pitchFamily="2" charset="0"/>
                <a:ea typeface="Outfit Bold" pitchFamily="34" charset="-122"/>
                <a:cs typeface="Outfit Bold" pitchFamily="34" charset="-120"/>
              </a:rPr>
              <a:t>Lexer (Análisis Léxico)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883223"/>
            <a:ext cx="13042821" cy="1625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Definición:</a:t>
            </a:r>
            <a:r>
              <a:rPr lang="en-US" sz="1750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 primera fase que lee el código fuente y lo convierte en tokens.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Tokens principales:</a:t>
            </a:r>
            <a:r>
              <a:rPr lang="en-US" sz="1750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 palabras clave, identificadores, operadores y literales.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Ejemplo:</a:t>
            </a:r>
            <a:r>
              <a:rPr lang="en-US" sz="1750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 </a:t>
            </a:r>
            <a:r>
              <a:rPr lang="en-US" sz="1750" dirty="0">
                <a:solidFill>
                  <a:srgbClr val="C2C4B5"/>
                </a:solidFill>
                <a:highlight>
                  <a:srgbClr val="292A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total = 100 + precio;</a:t>
            </a:r>
            <a:r>
              <a:rPr lang="en-US" sz="1750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 → </a:t>
            </a:r>
            <a:r>
              <a:rPr lang="en-US" sz="1750" dirty="0">
                <a:solidFill>
                  <a:srgbClr val="C2C4B5"/>
                </a:solidFill>
                <a:highlight>
                  <a:srgbClr val="292A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r>
              <a:rPr lang="en-US" sz="1750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 (identificador), </a:t>
            </a:r>
            <a:r>
              <a:rPr lang="en-US" sz="1750" dirty="0">
                <a:solidFill>
                  <a:srgbClr val="C2C4B5"/>
                </a:solidFill>
                <a:highlight>
                  <a:srgbClr val="292A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750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 (operador), </a:t>
            </a:r>
            <a:r>
              <a:rPr lang="en-US" sz="1750" dirty="0">
                <a:solidFill>
                  <a:srgbClr val="C2C4B5"/>
                </a:solidFill>
                <a:highlight>
                  <a:srgbClr val="292A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r>
              <a:rPr lang="en-US" sz="1750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 (literal), </a:t>
            </a:r>
            <a:r>
              <a:rPr lang="en-US" sz="1750" dirty="0">
                <a:solidFill>
                  <a:srgbClr val="C2C4B5"/>
                </a:solidFill>
                <a:highlight>
                  <a:srgbClr val="292A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750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 (operador), </a:t>
            </a:r>
            <a:r>
              <a:rPr lang="en-US" sz="1750" dirty="0">
                <a:solidFill>
                  <a:srgbClr val="C2C4B5"/>
                </a:solidFill>
                <a:highlight>
                  <a:srgbClr val="292A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precio</a:t>
            </a:r>
            <a:r>
              <a:rPr lang="en-US" sz="1750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 (identificador), </a:t>
            </a:r>
            <a:r>
              <a:rPr lang="en-US" sz="1750" dirty="0">
                <a:solidFill>
                  <a:srgbClr val="C2C4B5"/>
                </a:solidFill>
                <a:highlight>
                  <a:srgbClr val="292A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750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 (punto y coma).</a:t>
            </a:r>
            <a:endParaRPr lang="en-US" sz="175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9342293-29E4-2DEB-61D2-827B995693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0292" y="7743757"/>
            <a:ext cx="2210108" cy="48584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12846" y="449104"/>
            <a:ext cx="4889540" cy="4983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E1E5CD"/>
                </a:solidFill>
                <a:latin typeface="Abel" panose="020F0502020204030204" pitchFamily="2" charset="0"/>
                <a:ea typeface="Outfit Bold" pitchFamily="34" charset="-122"/>
                <a:cs typeface="Outfit Bold" pitchFamily="34" charset="-120"/>
              </a:rPr>
              <a:t>Parser (Análisis Sintáctico)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1812846" y="1171694"/>
            <a:ext cx="11004590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Qué es:</a:t>
            </a:r>
            <a:r>
              <a:rPr lang="en-US" sz="1250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 fase que toma los tokens del lexer y los organiza en una estructura jerárquica.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812846" y="1515070"/>
            <a:ext cx="11004590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Función principal:</a:t>
            </a:r>
            <a:r>
              <a:rPr lang="en-US" sz="1250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 validar que la secuencia de tokens cumpla las reglas gramaticales del lenguaje.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1812846" y="1858447"/>
            <a:ext cx="11004590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Técnica:</a:t>
            </a:r>
            <a:r>
              <a:rPr lang="en-US" sz="1250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 análisis descendente recursivo.</a:t>
            </a:r>
            <a:endParaRPr lang="en-US" sz="12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4141" y="2201823"/>
            <a:ext cx="7421880" cy="557855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35301" y="5029615"/>
            <a:ext cx="1353538" cy="309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Abel" panose="020F0502020204030204" pitchFamily="2" charset="0"/>
                <a:ea typeface="Outfit Bold" pitchFamily="34" charset="-122"/>
                <a:cs typeface="Outfit Bold" pitchFamily="34" charset="-120"/>
              </a:rPr>
              <a:t>Parser Flow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660105" y="6187997"/>
            <a:ext cx="2013627" cy="618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C2C4B5"/>
                </a:solidFill>
                <a:latin typeface="Abel" panose="020F0502020204030204" pitchFamily="2" charset="0"/>
                <a:ea typeface="Outfit Bold" pitchFamily="34" charset="-122"/>
                <a:cs typeface="Outfit Bold" pitchFamily="34" charset="-120"/>
              </a:rPr>
              <a:t>Parser Processing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660105" y="6895028"/>
            <a:ext cx="2013627" cy="421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Valida y organiza tokens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3939231" y="6293398"/>
            <a:ext cx="2013627" cy="618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C2C4B5"/>
                </a:solidFill>
                <a:latin typeface="Abel" panose="020F0502020204030204" pitchFamily="2" charset="0"/>
                <a:ea typeface="Outfit Bold" pitchFamily="34" charset="-122"/>
                <a:cs typeface="Outfit Bold" pitchFamily="34" charset="-120"/>
              </a:rPr>
              <a:t>Abstract Syntax Tree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3939231" y="7000429"/>
            <a:ext cx="2013627" cy="210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Salida AST jerárquica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6272157" y="2789195"/>
            <a:ext cx="2068649" cy="309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C2C4B5"/>
                </a:solidFill>
                <a:latin typeface="Abel" panose="020F0502020204030204" pitchFamily="2" charset="0"/>
                <a:ea typeface="Outfit Bold" pitchFamily="34" charset="-122"/>
                <a:cs typeface="Outfit Bold" pitchFamily="34" charset="-120"/>
              </a:rPr>
              <a:t>Tokens de Lexer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6272157" y="3186727"/>
            <a:ext cx="2068649" cy="210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Flujo de tokens léxicos</a:t>
            </a:r>
            <a:endParaRPr lang="en-US" sz="1550" dirty="0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E443D138-500C-B642-E89A-0568A232D4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20292" y="7743757"/>
            <a:ext cx="2210108" cy="48584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24232" y="481965"/>
            <a:ext cx="5410676" cy="4430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E1E5CD"/>
                </a:solidFill>
                <a:latin typeface="Abel" panose="020F0502020204030204" pitchFamily="2" charset="0"/>
                <a:ea typeface="Outfit Bold" pitchFamily="34" charset="-122"/>
                <a:cs typeface="Outfit Bold" pitchFamily="34" charset="-120"/>
              </a:rPr>
              <a:t>AST (Árbol de Sintaxis Abstracta)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2424232" y="1102162"/>
            <a:ext cx="9781937" cy="184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Representación jerárquica del código fuente que simplifica la gramática y muestra la estructura esencial.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424232" y="1386126"/>
            <a:ext cx="9781937" cy="184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Cada nodo puede ser de estos tipos: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424232" y="1670090"/>
            <a:ext cx="9781937" cy="614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100" b="1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Expresión:</a:t>
            </a:r>
            <a:r>
              <a:rPr lang="en-US" sz="1100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 operaciones y llamadas a funciones.</a:t>
            </a:r>
            <a:endParaRPr lang="en-US" sz="110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100" b="1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Sentencia:</a:t>
            </a:r>
            <a:r>
              <a:rPr lang="en-US" sz="1100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 acciones como asignaciones, bucles y condicionales.</a:t>
            </a:r>
            <a:endParaRPr lang="en-US" sz="110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100" b="1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Declaración:</a:t>
            </a:r>
            <a:r>
              <a:rPr lang="en-US" sz="1100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 definición de variables o funciones.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4232" y="2384584"/>
            <a:ext cx="9781937" cy="50789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701895" y="4510797"/>
            <a:ext cx="1207071" cy="814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Abel" panose="020F0502020204030204" pitchFamily="2" charset="0"/>
                <a:ea typeface="Outfit Bold" pitchFamily="34" charset="-122"/>
                <a:cs typeface="Outfit Bold" pitchFamily="34" charset="-120"/>
              </a:rPr>
              <a:t>Abstract Syntax Tree (AST)</a:t>
            </a:r>
            <a:endParaRPr lang="en-US" sz="17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09941" y="3731482"/>
            <a:ext cx="245639" cy="24563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655793" y="3432732"/>
            <a:ext cx="2114788" cy="271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C2C4B5"/>
                </a:solidFill>
                <a:latin typeface="Abel" panose="020F0502020204030204" pitchFamily="2" charset="0"/>
                <a:ea typeface="Outfit Bold" pitchFamily="34" charset="-122"/>
                <a:cs typeface="Outfit Bold" pitchFamily="34" charset="-120"/>
              </a:rPr>
              <a:t>Asignacion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2655793" y="3781575"/>
            <a:ext cx="2114788" cy="353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350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resultado= ... vincula el valor a la variable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9859592" y="3432732"/>
            <a:ext cx="2114788" cy="271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C2C4B5"/>
                </a:solidFill>
                <a:latin typeface="Abel" panose="020F0502020204030204" pitchFamily="2" charset="0"/>
                <a:ea typeface="Outfit Bold" pitchFamily="34" charset="-122"/>
                <a:cs typeface="Outfit Bold" pitchFamily="34" charset="-120"/>
              </a:rPr>
              <a:t>Adicion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9859592" y="3781575"/>
            <a:ext cx="2114788" cy="353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350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5 + (3 * x) combina dos operadores</a:t>
            </a:r>
            <a:endParaRPr lang="en-US" sz="13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6830" y="3210027"/>
            <a:ext cx="245639" cy="245639"/>
          </a:xfrm>
          <a:prstGeom prst="rect">
            <a:avLst/>
          </a:prstGeom>
        </p:spPr>
      </p:pic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56083" y="5836613"/>
            <a:ext cx="245639" cy="24563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2655793" y="5692368"/>
            <a:ext cx="2114788" cy="271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C2C4B5"/>
                </a:solidFill>
                <a:latin typeface="Abel" panose="020F0502020204030204" pitchFamily="2" charset="0"/>
                <a:ea typeface="Outfit Bold" pitchFamily="34" charset="-122"/>
                <a:cs typeface="Outfit Bold" pitchFamily="34" charset="-120"/>
              </a:rPr>
              <a:t>Multiplicacion</a:t>
            </a:r>
            <a:endParaRPr lang="en-US" sz="1700" dirty="0"/>
          </a:p>
        </p:txBody>
      </p:sp>
      <p:sp>
        <p:nvSpPr>
          <p:cNvPr id="16" name="Text 10"/>
          <p:cNvSpPr/>
          <p:nvPr/>
        </p:nvSpPr>
        <p:spPr>
          <a:xfrm>
            <a:off x="2655793" y="6041212"/>
            <a:ext cx="2114788" cy="353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350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3 * x multiplica literal e identificador</a:t>
            </a:r>
            <a:endParaRPr lang="en-US" sz="1350" dirty="0"/>
          </a:p>
        </p:txBody>
      </p:sp>
      <p:sp>
        <p:nvSpPr>
          <p:cNvPr id="17" name="Text 11"/>
          <p:cNvSpPr/>
          <p:nvPr/>
        </p:nvSpPr>
        <p:spPr>
          <a:xfrm>
            <a:off x="9859592" y="5692368"/>
            <a:ext cx="2114788" cy="5431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C2C4B5"/>
                </a:solidFill>
                <a:latin typeface="Abel" panose="020F0502020204030204" pitchFamily="2" charset="0"/>
                <a:ea typeface="Outfit Bold" pitchFamily="34" charset="-122"/>
                <a:cs typeface="Outfit Bold" pitchFamily="34" charset="-120"/>
              </a:rPr>
              <a:t>Literales e identificadores</a:t>
            </a:r>
            <a:endParaRPr lang="en-US" sz="1700" dirty="0"/>
          </a:p>
        </p:txBody>
      </p:sp>
      <p:sp>
        <p:nvSpPr>
          <p:cNvPr id="18" name="Text 12"/>
          <p:cNvSpPr/>
          <p:nvPr/>
        </p:nvSpPr>
        <p:spPr>
          <a:xfrm>
            <a:off x="9859592" y="6312803"/>
            <a:ext cx="2114788" cy="353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350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5 y 3 son literales; x es un identificador.</a:t>
            </a:r>
            <a:endParaRPr lang="en-US" sz="135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588244" y="6638108"/>
            <a:ext cx="245639" cy="245639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2424232" y="7563207"/>
            <a:ext cx="9781937" cy="184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Raíz: asignación; hijos: operaciones; hojas: literales e identificadores.</a:t>
            </a:r>
            <a:endParaRPr lang="en-US" sz="1100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656551E8-5590-3C52-DC96-8D436195579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420292" y="7710851"/>
            <a:ext cx="2210108" cy="48584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3042" y="608528"/>
            <a:ext cx="7630716" cy="1351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b="1" dirty="0">
                <a:solidFill>
                  <a:srgbClr val="E1E5CD"/>
                </a:solidFill>
                <a:latin typeface="Abel" panose="020F0502020204030204" pitchFamily="2" charset="0"/>
                <a:ea typeface="Outfit Bold" pitchFamily="34" charset="-122"/>
                <a:cs typeface="Outfit Bold" pitchFamily="34" charset="-120"/>
              </a:rPr>
              <a:t>Gramática BNF (Forma de Backus-Naur)</a:t>
            </a:r>
            <a:endParaRPr lang="en-US" sz="4250" dirty="0"/>
          </a:p>
        </p:txBody>
      </p:sp>
      <p:sp>
        <p:nvSpPr>
          <p:cNvPr id="4" name="Text 1"/>
          <p:cNvSpPr/>
          <p:nvPr/>
        </p:nvSpPr>
        <p:spPr>
          <a:xfrm>
            <a:off x="6243042" y="2268974"/>
            <a:ext cx="7630716" cy="675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b="1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BNF</a:t>
            </a:r>
            <a:r>
              <a:rPr lang="en-US" sz="1700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 es una notación formal para describir la sintaxis de un lenguaje de programación.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6243042" y="3176349"/>
            <a:ext cx="7630716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Componentes clave: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243042" y="3745944"/>
            <a:ext cx="7630716" cy="1628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00" b="1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No-terminales:</a:t>
            </a:r>
            <a:r>
              <a:rPr lang="en-US" sz="1700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 elementos gramaticales como </a:t>
            </a:r>
            <a:r>
              <a:rPr lang="en-US" sz="1700" dirty="0">
                <a:solidFill>
                  <a:srgbClr val="C2C4B5"/>
                </a:solidFill>
                <a:highlight>
                  <a:srgbClr val="292A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&lt;expresión&gt;</a:t>
            </a:r>
            <a:r>
              <a:rPr lang="en-US" sz="1700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.</a:t>
            </a:r>
            <a:endParaRPr lang="en-US" sz="1700" dirty="0"/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00" b="1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Terminales:</a:t>
            </a:r>
            <a:r>
              <a:rPr lang="en-US" sz="1700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 símbolos o palabras clave como </a:t>
            </a:r>
            <a:r>
              <a:rPr lang="en-US" sz="1700" dirty="0">
                <a:solidFill>
                  <a:srgbClr val="C2C4B5"/>
                </a:solidFill>
                <a:highlight>
                  <a:srgbClr val="292A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700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 o </a:t>
            </a:r>
            <a:r>
              <a:rPr lang="en-US" sz="1700" dirty="0">
                <a:solidFill>
                  <a:srgbClr val="C2C4B5"/>
                </a:solidFill>
                <a:highlight>
                  <a:srgbClr val="292A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700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.</a:t>
            </a:r>
            <a:endParaRPr lang="en-US" sz="1700" dirty="0"/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00" b="1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Producción:</a:t>
            </a:r>
            <a:r>
              <a:rPr lang="en-US" sz="1700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 regla que define cómo se expande un no-terminal con </a:t>
            </a:r>
            <a:r>
              <a:rPr lang="en-US" sz="1700" dirty="0">
                <a:solidFill>
                  <a:srgbClr val="C2C4B5"/>
                </a:solidFill>
                <a:highlight>
                  <a:srgbClr val="292A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::=</a:t>
            </a:r>
            <a:r>
              <a:rPr lang="en-US" sz="1700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.</a:t>
            </a:r>
            <a:endParaRPr lang="en-US" sz="1700" dirty="0"/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00" b="1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Alternativas:</a:t>
            </a:r>
            <a:r>
              <a:rPr lang="en-US" sz="1700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 opciones separadas por </a:t>
            </a:r>
            <a:r>
              <a:rPr lang="en-US" sz="1700" dirty="0">
                <a:solidFill>
                  <a:srgbClr val="C2C4B5"/>
                </a:solidFill>
                <a:highlight>
                  <a:srgbClr val="292A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|</a:t>
            </a:r>
            <a:r>
              <a:rPr lang="en-US" sz="1700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243042" y="5605939"/>
            <a:ext cx="7630716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Ejemplos de reglas BNF: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43042" y="6175534"/>
            <a:ext cx="7630716" cy="1445538"/>
          </a:xfrm>
          <a:prstGeom prst="roundRect">
            <a:avLst>
              <a:gd name="adj" fmla="val 2243"/>
            </a:avLst>
          </a:prstGeom>
          <a:solidFill>
            <a:srgbClr val="292A2C"/>
          </a:solidFill>
          <a:ln/>
        </p:spPr>
      </p:sp>
      <p:sp>
        <p:nvSpPr>
          <p:cNvPr id="9" name="Shape 6"/>
          <p:cNvSpPr/>
          <p:nvPr/>
        </p:nvSpPr>
        <p:spPr>
          <a:xfrm>
            <a:off x="6232327" y="6175534"/>
            <a:ext cx="7652147" cy="1445538"/>
          </a:xfrm>
          <a:prstGeom prst="roundRect">
            <a:avLst>
              <a:gd name="adj" fmla="val 2243"/>
            </a:avLst>
          </a:prstGeom>
          <a:solidFill>
            <a:srgbClr val="292A2C"/>
          </a:solidFill>
          <a:ln/>
        </p:spPr>
      </p:sp>
      <p:sp>
        <p:nvSpPr>
          <p:cNvPr id="10" name="Text 7"/>
          <p:cNvSpPr/>
          <p:nvPr/>
        </p:nvSpPr>
        <p:spPr>
          <a:xfrm>
            <a:off x="6502479" y="6391632"/>
            <a:ext cx="7111841" cy="1013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C2C4B5"/>
                </a:solidFill>
                <a:highlight>
                  <a:srgbClr val="292A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&lt;sentencia&gt; ::= &lt;declaracion_var&gt; | &lt;asignacion&gt; | &lt;condicional_if&gt;</a:t>
            </a:r>
            <a:endParaRPr lang="en-US" sz="1700" dirty="0"/>
          </a:p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C2C4B5"/>
                </a:solidFill>
                <a:highlight>
                  <a:srgbClr val="292A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&lt;expresion&gt; ::= &lt;termino&gt; ( ("+"|"-") &lt;termino&gt; )*</a:t>
            </a:r>
            <a:endParaRPr lang="en-US" sz="1700" dirty="0"/>
          </a:p>
          <a:p>
            <a:pPr marL="0" indent="0" algn="l">
              <a:lnSpc>
                <a:spcPts val="2650"/>
              </a:lnSpc>
              <a:buNone/>
            </a:pPr>
            <a:r>
              <a:rPr lang="en-US" sz="1700" dirty="0">
                <a:solidFill>
                  <a:srgbClr val="C2C4B5"/>
                </a:solidFill>
                <a:highlight>
                  <a:srgbClr val="292A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&lt;asignacion&gt; ::= IDENTIFICADOR "=" &lt;expresion&gt; ";"</a:t>
            </a:r>
            <a:endParaRPr lang="en-US" sz="1700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74BBF587-4BA7-163F-D45F-4B9728E2D6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20292" y="7729776"/>
            <a:ext cx="2210108" cy="48584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7344" y="581858"/>
            <a:ext cx="4695944" cy="586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50" b="1" dirty="0">
                <a:solidFill>
                  <a:srgbClr val="E1E5CD"/>
                </a:solidFill>
                <a:latin typeface="Abel" panose="020F0502020204030204" pitchFamily="2" charset="0"/>
                <a:ea typeface="Outfit Bold" pitchFamily="34" charset="-122"/>
                <a:cs typeface="Outfit Bold" pitchFamily="34" charset="-120"/>
              </a:rPr>
              <a:t>Tabla de Símbolos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657344" y="1402080"/>
            <a:ext cx="7829312" cy="549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La </a:t>
            </a:r>
            <a:r>
              <a:rPr lang="en-US" sz="1450" b="1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Tabla de Símbolos</a:t>
            </a:r>
            <a:r>
              <a:rPr lang="en-US" sz="1450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 es una estructura de datos que almacena información de los identificadores del código fuente.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657344" y="2126337"/>
            <a:ext cx="7829312" cy="549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Su función principal es permitir al intérprete resolver nombres rápidamente durante la evaluación del programa.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57344" y="2850594"/>
            <a:ext cx="7829312" cy="1082635"/>
          </a:xfrm>
          <a:prstGeom prst="roundRect">
            <a:avLst>
              <a:gd name="adj" fmla="val 2603"/>
            </a:avLst>
          </a:prstGeom>
          <a:solidFill>
            <a:srgbClr val="1C1D1F"/>
          </a:solidFill>
          <a:ln w="22860">
            <a:solidFill>
              <a:srgbClr val="54555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67966" y="3061216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C2C4B5"/>
                </a:solidFill>
                <a:latin typeface="Abel" panose="020F0502020204030204" pitchFamily="2" charset="0"/>
                <a:ea typeface="Outfit Bold" pitchFamily="34" charset="-122"/>
                <a:cs typeface="Outfit Bold" pitchFamily="34" charset="-120"/>
              </a:rPr>
              <a:t>Nombre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7966" y="3447931"/>
            <a:ext cx="7408069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Identificador único.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57344" y="4088725"/>
            <a:ext cx="7829312" cy="1082635"/>
          </a:xfrm>
          <a:prstGeom prst="roundRect">
            <a:avLst>
              <a:gd name="adj" fmla="val 2603"/>
            </a:avLst>
          </a:prstGeom>
          <a:solidFill>
            <a:srgbClr val="1C1D1F"/>
          </a:solidFill>
          <a:ln w="22860">
            <a:solidFill>
              <a:srgbClr val="54555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7966" y="4299347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C2C4B5"/>
                </a:solidFill>
                <a:latin typeface="Abel" panose="020F0502020204030204" pitchFamily="2" charset="0"/>
                <a:ea typeface="Outfit Bold" pitchFamily="34" charset="-122"/>
                <a:cs typeface="Outfit Bold" pitchFamily="34" charset="-120"/>
              </a:rPr>
              <a:t>Tipo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67966" y="4686062"/>
            <a:ext cx="7408069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Dato asociado.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57344" y="5326856"/>
            <a:ext cx="7829312" cy="1082635"/>
          </a:xfrm>
          <a:prstGeom prst="roundRect">
            <a:avLst>
              <a:gd name="adj" fmla="val 2603"/>
            </a:avLst>
          </a:prstGeom>
          <a:solidFill>
            <a:srgbClr val="1C1D1F"/>
          </a:solidFill>
          <a:ln w="22860">
            <a:solidFill>
              <a:srgbClr val="54555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7966" y="5537478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C2C4B5"/>
                </a:solidFill>
                <a:latin typeface="Abel" panose="020F0502020204030204" pitchFamily="2" charset="0"/>
                <a:ea typeface="Outfit Bold" pitchFamily="34" charset="-122"/>
                <a:cs typeface="Outfit Bold" pitchFamily="34" charset="-120"/>
              </a:rPr>
              <a:t>Valor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67966" y="5924193"/>
            <a:ext cx="7408069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Valor actual.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657344" y="6564987"/>
            <a:ext cx="7829312" cy="1082635"/>
          </a:xfrm>
          <a:prstGeom prst="roundRect">
            <a:avLst>
              <a:gd name="adj" fmla="val 2603"/>
            </a:avLst>
          </a:prstGeom>
          <a:solidFill>
            <a:srgbClr val="1C1D1F"/>
          </a:solidFill>
          <a:ln w="22860">
            <a:solidFill>
              <a:srgbClr val="54555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67966" y="6775609"/>
            <a:ext cx="2347912" cy="293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b="1" dirty="0">
                <a:solidFill>
                  <a:srgbClr val="C2C4B5"/>
                </a:solidFill>
                <a:latin typeface="Abel" panose="020F0502020204030204" pitchFamily="2" charset="0"/>
                <a:ea typeface="Outfit Bold" pitchFamily="34" charset="-122"/>
                <a:cs typeface="Outfit Bold" pitchFamily="34" charset="-120"/>
              </a:rPr>
              <a:t>Ámbito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867966" y="7162324"/>
            <a:ext cx="7408069" cy="274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450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Donde es visible.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91063" y="461724"/>
            <a:ext cx="3361730" cy="409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b="1" dirty="0">
                <a:solidFill>
                  <a:srgbClr val="E1E5CD"/>
                </a:solidFill>
                <a:latin typeface="Abel" panose="020F0502020204030204" pitchFamily="2" charset="0"/>
                <a:ea typeface="Outfit Bold" pitchFamily="34" charset="-122"/>
                <a:cs typeface="Outfit Bold" pitchFamily="34" charset="-120"/>
              </a:rPr>
              <a:t>Evaluador (Intérprete)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2791063" y="1022985"/>
            <a:ext cx="9048274" cy="165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El </a:t>
            </a:r>
            <a:r>
              <a:rPr lang="en-US" sz="1000" b="1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Evaluador</a:t>
            </a:r>
            <a:r>
              <a:rPr lang="en-US" sz="1000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 es el componente que interpreta el AST y ejecuta el programa.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791063" y="1273731"/>
            <a:ext cx="4486275" cy="708541"/>
          </a:xfrm>
          <a:prstGeom prst="roundRect">
            <a:avLst>
              <a:gd name="adj" fmla="val 2776"/>
            </a:avLst>
          </a:prstGeom>
          <a:solidFill>
            <a:srgbClr val="1C1D1F"/>
          </a:solidFill>
          <a:ln w="15240">
            <a:solidFill>
              <a:srgbClr val="5455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937391" y="1420058"/>
            <a:ext cx="1639133" cy="204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C2C4B5"/>
                </a:solidFill>
                <a:latin typeface="Abel" panose="020F0502020204030204" pitchFamily="2" charset="0"/>
                <a:ea typeface="Outfit Bold" pitchFamily="34" charset="-122"/>
                <a:cs typeface="Outfit Bold" pitchFamily="34" charset="-120"/>
              </a:rPr>
              <a:t>Recorrido del AST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937391" y="1670447"/>
            <a:ext cx="4193619" cy="165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Recorre los nodos en orden.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53062" y="1273731"/>
            <a:ext cx="4486275" cy="708541"/>
          </a:xfrm>
          <a:prstGeom prst="roundRect">
            <a:avLst>
              <a:gd name="adj" fmla="val 2776"/>
            </a:avLst>
          </a:prstGeom>
          <a:solidFill>
            <a:srgbClr val="1C1D1F"/>
          </a:solidFill>
          <a:ln w="15240">
            <a:solidFill>
              <a:srgbClr val="54555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9390" y="1420058"/>
            <a:ext cx="1927860" cy="204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C2C4B5"/>
                </a:solidFill>
                <a:latin typeface="Abel" panose="020F0502020204030204" pitchFamily="2" charset="0"/>
                <a:ea typeface="Outfit Bold" pitchFamily="34" charset="-122"/>
                <a:cs typeface="Outfit Bold" pitchFamily="34" charset="-120"/>
              </a:rPr>
              <a:t>Ejecución de Operaciones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99390" y="1670447"/>
            <a:ext cx="4193619" cy="165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Ejecuta cálculos e instrucciones.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91063" y="2057995"/>
            <a:ext cx="4486275" cy="708541"/>
          </a:xfrm>
          <a:prstGeom prst="roundRect">
            <a:avLst>
              <a:gd name="adj" fmla="val 2776"/>
            </a:avLst>
          </a:prstGeom>
          <a:solidFill>
            <a:srgbClr val="1C1D1F"/>
          </a:solidFill>
          <a:ln w="15240">
            <a:solidFill>
              <a:srgbClr val="5455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37391" y="2204323"/>
            <a:ext cx="1639133" cy="204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C2C4B5"/>
                </a:solidFill>
                <a:latin typeface="Abel" panose="020F0502020204030204" pitchFamily="2" charset="0"/>
                <a:ea typeface="Outfit Bold" pitchFamily="34" charset="-122"/>
                <a:cs typeface="Outfit Bold" pitchFamily="34" charset="-120"/>
              </a:rPr>
              <a:t>Gestión de Variables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937391" y="2454712"/>
            <a:ext cx="4193619" cy="165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Lee y actualiza valores.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53062" y="2057995"/>
            <a:ext cx="4486275" cy="708541"/>
          </a:xfrm>
          <a:prstGeom prst="roundRect">
            <a:avLst>
              <a:gd name="adj" fmla="val 2776"/>
            </a:avLst>
          </a:prstGeom>
          <a:solidFill>
            <a:srgbClr val="1C1D1F"/>
          </a:solidFill>
          <a:ln w="15240">
            <a:solidFill>
              <a:srgbClr val="5455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9390" y="2204323"/>
            <a:ext cx="1639133" cy="204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C2C4B5"/>
                </a:solidFill>
                <a:latin typeface="Abel" panose="020F0502020204030204" pitchFamily="2" charset="0"/>
                <a:ea typeface="Outfit Bold" pitchFamily="34" charset="-122"/>
                <a:cs typeface="Outfit Bold" pitchFamily="34" charset="-120"/>
              </a:rPr>
              <a:t>Manejo de Funciones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499390" y="2454712"/>
            <a:ext cx="4193619" cy="165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Gestiona llamadas y ámbitos.</a:t>
            </a:r>
            <a:endParaRPr lang="en-US" sz="100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8742" y="2851785"/>
            <a:ext cx="6192917" cy="491597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750597" y="5033243"/>
            <a:ext cx="1112897" cy="508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bel" panose="020F0502020204030204" pitchFamily="2" charset="0"/>
                <a:ea typeface="Outfit Bold" pitchFamily="34" charset="-122"/>
                <a:cs typeface="Outfit Bold" pitchFamily="34" charset="-120"/>
              </a:rPr>
              <a:t>Evaluador (Intérprete)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845398" y="3366583"/>
            <a:ext cx="1655633" cy="2544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C2C4B5"/>
                </a:solidFill>
                <a:latin typeface="Abel" panose="020F0502020204030204" pitchFamily="2" charset="0"/>
                <a:ea typeface="Outfit Bold" pitchFamily="34" charset="-122"/>
                <a:cs typeface="Outfit Bold" pitchFamily="34" charset="-120"/>
              </a:rPr>
              <a:t>AST de entrada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845398" y="3693440"/>
            <a:ext cx="1655633" cy="321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1250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Estructura de nodos del programa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085775" y="3239346"/>
            <a:ext cx="1655633" cy="508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C2C4B5"/>
                </a:solidFill>
                <a:latin typeface="Abel" panose="020F0502020204030204" pitchFamily="2" charset="0"/>
                <a:ea typeface="Outfit Bold" pitchFamily="34" charset="-122"/>
                <a:cs typeface="Outfit Bold" pitchFamily="34" charset="-120"/>
              </a:rPr>
              <a:t>Camino de ejecución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085775" y="3820677"/>
            <a:ext cx="1655633" cy="321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1250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Flechas que indican flujo dinámico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5085775" y="6469463"/>
            <a:ext cx="1655633" cy="508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C2C4B5"/>
                </a:solidFill>
                <a:latin typeface="Abel" panose="020F0502020204030204" pitchFamily="2" charset="0"/>
                <a:ea typeface="Outfit Bold" pitchFamily="34" charset="-122"/>
                <a:cs typeface="Outfit Bold" pitchFamily="34" charset="-120"/>
              </a:rPr>
              <a:t>Actualización de variables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085775" y="7050794"/>
            <a:ext cx="1655633" cy="321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1250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Modifica estado del entorno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7845398" y="6469463"/>
            <a:ext cx="1655633" cy="508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C2C4B5"/>
                </a:solidFill>
                <a:latin typeface="Abel" panose="020F0502020204030204" pitchFamily="2" charset="0"/>
                <a:ea typeface="Outfit Bold" pitchFamily="34" charset="-122"/>
                <a:cs typeface="Outfit Bold" pitchFamily="34" charset="-120"/>
              </a:rPr>
              <a:t>Unidad de procesamiento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7845398" y="7050794"/>
            <a:ext cx="1655633" cy="321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1250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Módulo que ejecuta instrucciones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8442563" y="4831785"/>
            <a:ext cx="1691825" cy="508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C2C4B5"/>
                </a:solidFill>
                <a:latin typeface="Abel" panose="020F0502020204030204" pitchFamily="2" charset="0"/>
                <a:ea typeface="Outfit Bold" pitchFamily="34" charset="-122"/>
                <a:cs typeface="Outfit Bold" pitchFamily="34" charset="-120"/>
              </a:rPr>
              <a:t>Desplazamiento por nodos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8442563" y="5413115"/>
            <a:ext cx="1691825" cy="321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1250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Recorre e interpreta cada nodo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4479562" y="4840833"/>
            <a:ext cx="1691825" cy="5089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C2C4B5"/>
                </a:solidFill>
                <a:latin typeface="Abel" panose="020F0502020204030204" pitchFamily="2" charset="0"/>
                <a:ea typeface="Outfit Bold" pitchFamily="34" charset="-122"/>
                <a:cs typeface="Outfit Bold" pitchFamily="34" charset="-120"/>
              </a:rPr>
              <a:t>Llamadas a funciones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4479562" y="5422163"/>
            <a:ext cx="1691825" cy="321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50"/>
              </a:lnSpc>
              <a:buNone/>
            </a:pPr>
            <a:r>
              <a:rPr lang="en-US" sz="1250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Invoca y gestiona contextos</a:t>
            </a:r>
            <a:endParaRPr lang="en-US" sz="1250" dirty="0"/>
          </a:p>
        </p:txBody>
      </p:sp>
      <p:pic>
        <p:nvPicPr>
          <p:cNvPr id="31" name="Imagen 30">
            <a:extLst>
              <a:ext uri="{FF2B5EF4-FFF2-40B4-BE49-F238E27FC236}">
                <a16:creationId xmlns:a16="http://schemas.microsoft.com/office/drawing/2014/main" id="{19C586F3-AC59-FCFB-4E6F-26D07C7BEE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20292" y="7767757"/>
            <a:ext cx="2210108" cy="48584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1252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1E5CD"/>
                </a:solidFill>
                <a:latin typeface="Abel" panose="020F0502020204030204" pitchFamily="2" charset="0"/>
                <a:ea typeface="Outfit Bold" pitchFamily="34" charset="-122"/>
                <a:cs typeface="Outfit Bold" pitchFamily="34" charset="-120"/>
              </a:rPr>
              <a:t>Manejo de Errores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27492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El manejo de errores permite identificar y reportar problemas en el código fuente de forma clara y rápida.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2892981"/>
            <a:ext cx="566976" cy="5669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37434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Abel" panose="02000506030000020004" pitchFamily="2" charset="0"/>
                <a:ea typeface="Outfit Bold" pitchFamily="34" charset="-122"/>
                <a:cs typeface="Outfit Bold" pitchFamily="34" charset="-120"/>
              </a:rPr>
              <a:t>Errores Léxicos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4233863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Caracteres o tokens inválidos detectados en el análisis léxico.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56884" y="2892981"/>
            <a:ext cx="566976" cy="5669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56884" y="37434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Abel" panose="02000506030000020004" pitchFamily="2" charset="0"/>
                <a:ea typeface="Outfit Bold" pitchFamily="34" charset="-122"/>
                <a:cs typeface="Outfit Bold" pitchFamily="34" charset="-120"/>
              </a:rPr>
              <a:t>Errores Sintácticos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7456884" y="4233863"/>
            <a:ext cx="6379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Reglas gramaticales incumplidas al construir el AST.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3790" y="5050393"/>
            <a:ext cx="566976" cy="5669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93790" y="590085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Abel" panose="02000506030000020004" pitchFamily="2" charset="0"/>
                <a:ea typeface="Outfit Bold" pitchFamily="34" charset="-122"/>
                <a:cs typeface="Outfit Bold" pitchFamily="34" charset="-120"/>
              </a:rPr>
              <a:t>Errores Semánticos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793790" y="6391275"/>
            <a:ext cx="637960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Inconsistencias de significado, tipos o variables no declaradas.</a:t>
            </a:r>
            <a:endParaRPr lang="en-US" sz="17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56884" y="5050393"/>
            <a:ext cx="566976" cy="56697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56884" y="5900857"/>
            <a:ext cx="405812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Abel" panose="02000506030000020004" pitchFamily="2" charset="0"/>
                <a:ea typeface="Outfit Bold" pitchFamily="34" charset="-122"/>
                <a:cs typeface="Outfit Bold" pitchFamily="34" charset="-120"/>
              </a:rPr>
              <a:t>Errores en Tiempo de Ejecución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7456884" y="6391275"/>
            <a:ext cx="6379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Problemas que aparecen mientras el programa se ejecuta.</a:t>
            </a:r>
            <a:endParaRPr lang="en-US" sz="1750" dirty="0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5C6A6436-0C82-3665-72FA-4E64AE02A94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420292" y="7743757"/>
            <a:ext cx="2210108" cy="48584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2228" y="597218"/>
            <a:ext cx="4873228" cy="609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b="1" dirty="0">
                <a:solidFill>
                  <a:srgbClr val="E1E5CD"/>
                </a:solidFill>
                <a:latin typeface="Abel" panose="02000506030000020004" pitchFamily="2" charset="0"/>
                <a:ea typeface="Outfit Bold" pitchFamily="34" charset="-122"/>
                <a:cs typeface="Outfit Bold" pitchFamily="34" charset="-120"/>
              </a:rPr>
              <a:t>Conclusiones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82228" y="1541264"/>
            <a:ext cx="13265944" cy="579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Construir un intérprete de scripting es un recorrido por los fundamentos de la informática.</a:t>
            </a:r>
            <a:endParaRPr lang="en-US" sz="1500" dirty="0"/>
          </a:p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Su arquitectura modular convierte el código fuente en acciones ejecutables.</a:t>
            </a:r>
            <a:endParaRPr lang="en-US" sz="15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2228" y="2309455"/>
            <a:ext cx="487323" cy="48732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2228" y="3006090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C2C4B5"/>
                </a:solidFill>
                <a:latin typeface="Abel" panose="02000506030000020004" pitchFamily="2" charset="0"/>
                <a:ea typeface="Outfit Bold" pitchFamily="34" charset="-122"/>
                <a:cs typeface="Outfit Bold" pitchFamily="34" charset="-120"/>
              </a:rPr>
              <a:t>Análisis Léxico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682228" y="3411141"/>
            <a:ext cx="6528316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Convierte texto en tokens.</a:t>
            </a:r>
            <a:endParaRPr lang="en-US" sz="15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19856" y="2309455"/>
            <a:ext cx="487323" cy="48732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19856" y="3006090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C2C4B5"/>
                </a:solidFill>
                <a:latin typeface="Abel" panose="02000506030000020004" pitchFamily="2" charset="0"/>
                <a:ea typeface="Outfit Bold" pitchFamily="34" charset="-122"/>
                <a:cs typeface="Outfit Bold" pitchFamily="34" charset="-120"/>
              </a:rPr>
              <a:t>Análisis Sintáctico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7419856" y="3411141"/>
            <a:ext cx="6528316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Verifica la estructura del código.</a:t>
            </a:r>
            <a:endParaRPr lang="en-US" sz="15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2228" y="4035981"/>
            <a:ext cx="487323" cy="48732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82228" y="4732615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C2C4B5"/>
                </a:solidFill>
                <a:latin typeface="Abel" panose="02000506030000020004" pitchFamily="2" charset="0"/>
                <a:ea typeface="Outfit Bold" pitchFamily="34" charset="-122"/>
                <a:cs typeface="Outfit Bold" pitchFamily="34" charset="-120"/>
              </a:rPr>
              <a:t>AST</a:t>
            </a:r>
            <a:endParaRPr lang="en-US" sz="1900" dirty="0"/>
          </a:p>
        </p:txBody>
      </p:sp>
      <p:sp>
        <p:nvSpPr>
          <p:cNvPr id="12" name="Text 7"/>
          <p:cNvSpPr/>
          <p:nvPr/>
        </p:nvSpPr>
        <p:spPr>
          <a:xfrm>
            <a:off x="682228" y="5137666"/>
            <a:ext cx="6528316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Representa el programa de forma jerárquica.</a:t>
            </a:r>
            <a:endParaRPr lang="en-US" sz="15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19856" y="4035981"/>
            <a:ext cx="487323" cy="48732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19856" y="4732615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C2C4B5"/>
                </a:solidFill>
                <a:latin typeface="Abel" panose="02000506030000020004" pitchFamily="2" charset="0"/>
                <a:ea typeface="Outfit Bold" pitchFamily="34" charset="-122"/>
                <a:cs typeface="Outfit Bold" pitchFamily="34" charset="-120"/>
              </a:rPr>
              <a:t>Tabla de Símbolos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7419856" y="5137666"/>
            <a:ext cx="6528316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Gestiona identificadores y ámbitos.</a:t>
            </a:r>
            <a:endParaRPr lang="en-US" sz="15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82228" y="5762506"/>
            <a:ext cx="487323" cy="48732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82228" y="6459141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C2C4B5"/>
                </a:solidFill>
                <a:latin typeface="Abel" panose="02000506030000020004" pitchFamily="2" charset="0"/>
                <a:ea typeface="Outfit Bold" pitchFamily="34" charset="-122"/>
                <a:cs typeface="Outfit Bold" pitchFamily="34" charset="-120"/>
              </a:rPr>
              <a:t>Evaluador</a:t>
            </a:r>
            <a:endParaRPr lang="en-US" sz="1900" dirty="0"/>
          </a:p>
        </p:txBody>
      </p:sp>
      <p:sp>
        <p:nvSpPr>
          <p:cNvPr id="18" name="Text 11"/>
          <p:cNvSpPr/>
          <p:nvPr/>
        </p:nvSpPr>
        <p:spPr>
          <a:xfrm>
            <a:off x="682228" y="6864191"/>
            <a:ext cx="6528316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Ejecuta instrucciones y produce resultados.</a:t>
            </a:r>
            <a:endParaRPr lang="en-US" sz="15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419856" y="5762506"/>
            <a:ext cx="487323" cy="487323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419856" y="6459141"/>
            <a:ext cx="2436614" cy="304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b="1" dirty="0">
                <a:solidFill>
                  <a:srgbClr val="C2C4B5"/>
                </a:solidFill>
                <a:latin typeface="Abel" panose="02000506030000020004" pitchFamily="2" charset="0"/>
                <a:ea typeface="Outfit Bold" pitchFamily="34" charset="-122"/>
                <a:cs typeface="Outfit Bold" pitchFamily="34" charset="-120"/>
              </a:rPr>
              <a:t>Manejo de Errores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7419856" y="6864191"/>
            <a:ext cx="6528316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Mejora la robustez y la depuración.</a:t>
            </a:r>
            <a:endParaRPr lang="en-US" sz="1500" dirty="0"/>
          </a:p>
        </p:txBody>
      </p:sp>
      <p:sp>
        <p:nvSpPr>
          <p:cNvPr id="22" name="Text 14"/>
          <p:cNvSpPr/>
          <p:nvPr/>
        </p:nvSpPr>
        <p:spPr>
          <a:xfrm>
            <a:off x="682228" y="7342465"/>
            <a:ext cx="13265944" cy="2899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C2C4B5"/>
                </a:solidFill>
                <a:latin typeface="Abadi" panose="020B0604020104020204" pitchFamily="34" charset="0"/>
                <a:ea typeface="Bitter" pitchFamily="34" charset="-122"/>
                <a:cs typeface="Bitter" pitchFamily="34" charset="-120"/>
              </a:rPr>
              <a:t>Esta arquitectura también se aplica en compiladores, bases de datos y herramientas de análisis de código.</a:t>
            </a:r>
            <a:endParaRPr lang="en-US" sz="1500" dirty="0"/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2EF1B61B-614B-A23E-546D-C4CCE588090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420292" y="7632382"/>
            <a:ext cx="2210108" cy="48584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802</Words>
  <Application>Microsoft Office PowerPoint</Application>
  <PresentationFormat>Personalizado</PresentationFormat>
  <Paragraphs>144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7" baseType="lpstr">
      <vt:lpstr>Alef</vt:lpstr>
      <vt:lpstr>Arial</vt:lpstr>
      <vt:lpstr>Abel</vt:lpstr>
      <vt:lpstr>Consolas</vt:lpstr>
      <vt:lpstr>Abadi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Noname XwX</cp:lastModifiedBy>
  <cp:revision>2</cp:revision>
  <dcterms:created xsi:type="dcterms:W3CDTF">2026-04-19T17:45:21Z</dcterms:created>
  <dcterms:modified xsi:type="dcterms:W3CDTF">2026-04-19T18:01:22Z</dcterms:modified>
</cp:coreProperties>
</file>